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本说明仅采用工作簿第二标签页“页面规划”作为需求依据。现有 HTML 页面和素材作为视觉基线。未确认的业务规则以“待确认/建议”标注。最后一页为现有 PC 后台页面图片。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按原表编号1–11逐项映射。首页弹窗在home.html；专区及弹窗在index.html；最后一页引用dashboard.html。表格中的开发沟通意见与待确认问题均保留为对接事项，不视为已实现功能。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依据第二标签页“页面规划”。
来源：页面规划 B2:G2；home.html
展示内容：恒洁水纹主视觉、广州设计周主题标题。
底部突出“报名通道”，右上角保留关闭入口。
交互说明：进入首页展示弹窗；点击“报名通道”进入 H5 专区。
关闭后回到首页，仍可从“品牌活动”进入报名专区。
支持键盘关闭和焦点返回。
状态与对接：弹窗展示频次、有效展期需由运营确认。
当前每次打开首页展示；不擅自增加每日限次规则。
阅读提示：现有原型实截图只证明前端演示状态；标注“规划示意”的图片是本次为说明文档补充的设计，不代表功能已实现。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依据第二标签页“页面规划”。
来源：页面规划 B3:G3；index.html
展示内容：顶部主题轮播、展期提示、现场扫码和 VIP 邀约。
下方展示五类内容入口、“我的凭证”及活动日程。
交互说明：点击报名卡片打开对应表单；返回后继续浏览主页。
导航卡片进入对应列表或图文页；日程连接活动详情。
状态与对接：现有页面保持深蓝视觉、苹方优先字体。
图文/视频素材按后台能力配置；现版尚无视频模块。
阅读提示：现有原型实截图只证明前端演示状态；标注“规划示意”的图片是本次为说明文档补充的设计，不代表功能已实现。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依据第二标签页“页面规划”。
来源：页面规划 C4:D4、G4；index.html .carousel
展示内容：品牌标识、主题文案、展期或场地信息。
当前共 3 张，底部切换指示和暂停/播放按钮可见。
交互说明：当前约 4.6 秒自动切换，点击指示切至对应主题。
悬停、键盘操作时暂停；减少动态效果模式默认不自动播放。
如需点击海报跳转，单独配置目标页，不默认全图可点。
状态与对接：当前轮播高度 402 CSS px；390 宽视口约为 390:402。
正式图片比例、张数、顺序、时长及跳转参数待确认。
阅读提示：现有原型实截图只证明前端演示状态；标注“规划示意”的图片是本次为说明文档补充的设计，不代表功能已实现。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依据第二标签页“页面规划”。
来源：页面规划 C5:G5；index.html 报名弹窗
展示内容：姓名、联系电话、公司 / 工作室、所在城市、设计类型。
城市使用下拉选择；设计类型为家装设计、工装设计、其他。
交互说明：点击现场扫码入口打开表单，必填项及电话格式校验。
选择下拉项后回填；校验通过后提交，进入登记成功状态。
关闭返回原页面，不触发提交。
状态与对接：当前为前端提交演示，未真实保存留资。
建议接口阶段补充提交中防重复、失败提示与保留输入。
阅读提示：现有原型实截图只证明前端演示状态；标注“规划示意”的图片是本次为说明文档补充的设计，不代表功能已实现。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依据第二标签页“页面规划”。
来源：页面规划 G5“报名成功页面设计”；现有 H5 成功状态
展示内容：“登记成功”反馈、现场扫码渠道标签、完成按钮。
现有 H5 同时展示演示二维码与凭证编码。
交互说明：点击“完成”关闭成功弹窗并返回专区。
再次点击“我的凭证”，可读取本机保存的报名状态。
状态与对接：表格明确要求成功页，未明确现场通道是否需二维码。
目前保留现有演示凭证；真实核销与凭证发放规则待确认。
阅读提示：现有原型实截图只证明前端演示状态；标注“规划示意”的图片是本次为说明文档补充的设计，不代表功能已实现。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依据第二标签页“页面规划”。
来源：页面规划 C6:G6，含定向分享及下拉选项要求
展示内容：五个字段与现场报名一致，渠道显示为 VIP 邀约。
设计类型固定三项；城市列表由项目配置。
交互说明：定向分享入口建议携带邀约标识并直达 VIP 表单。
选择项目 → 确认回填 → 校验提交 → 生成 VIP 凭证。
状态与对接：现有表单使用系统原生下拉；右图为交互说明备选。
直达路由、分享载体、城市范围和邀请码校验尚待确认。
阅读提示：现有原型实截图只证明前端演示状态；标注“规划示意”的图片是本次为说明文档补充的设计，不代表功能已实现。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依据第二标签页“页面规划”。
来源：页面规划 D6、G6“报名凭证模板 / 邀请码生成规则”
展示内容：登记成功提示、VIP 标签、二维码、凭证编码及提示语。
沿用深蓝品牌样式，二维码区域保持清晰可辨。
交互说明：成功后展示凭证；点击“完成”返回专区。
“我的凭证”可再次打开。真实场景由现场工作人员扫码核验。
状态与对接：当前二维码为静态示例，不是可核销的专属码。
建议后端生成唯一标识并关联报名记录；有效期、防重核销、
邀约码与入场码的关系需单独确认。
阅读提示：现有原型实截图只证明前端演示状态；标注“规划示意”的图片是本次为说明文档补充的设计，不代表功能已实现。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依据第二标签页“页面规划”。
来源：现有 index.html“我的凭证”；关联表格编号 4、5
展示内容：未报名：提示暂未获取凭证，提供“暂不报名 / 去报名”。
已报名：展示所属渠道的凭证内容。
交互说明：未报名点击“去报名”打开表单；取消返回专区。
已报名直接打开凭证，完成后回到原页面。
状态与对接：当前状态仅存于本机浏览器，清理存储后会消失。
跨设备查询需接入身份与留资关联；不将本机状态视为正式核验。
阅读提示：现有原型实截图只证明前端演示状态；标注“规划示意”的图片是本次为说明文档补充的设计，不代表功能已实现。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依据第二标签页“页面规划”。
来源：页面规划 C7:H7；当前入口尚为占位提示
展示内容：展馆主题、实景或导览图、展馆介绍正文。
位置与参观路线可随正式图文内容配置，资料待品牌提供。
交互说明：主页“展馆介绍” → 图文详情；纵向阅读，返回专区。
按表格对接意见，可使用图文编辑器、整张长图或公众号链接。
状态与对接：当前 H5 尚无真实详情页；左图为本次补充原型。
需确认最终承载方式及长图清晰度，正式场馆信息不得用占位代替。
阅读提示：现有原型实截图只证明前端演示状态；标注“规划示意”的图片是本次为说明文档补充的设计，不代表功能已实现。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依据第二标签页“页面规划”。
来源：页面规划 C8:H8；现有 activity-page
展示内容：页面标题、搜索区域、分类栏、活动题图、名称、日期和状态。
列表入口默认应筛出设计周活动，排除其他品牌活动。
交互说明：主页“品牌活动”或日程 MORE → 列表。
点击卡片进入对应活动详情；返回保留浏览位置。
搜索 / 分类按复用活动模块能力接入。
状态与对接：现版列表可进入；搜索、真实筛选和卡片详情仍为占位。
“自动筛出设计周活动”属于表格对接要求，尚未实现。
阅读提示：现有原型实截图只证明前端演示状态；标注“规划示意”的图片是本次为说明文档补充的设计，不代表功能已实现。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依据第二标签页“页面规划”。
来源：页面规划 D8:H8；复用现有活动详情或公众号文章
展示内容：活动名称、主题海报、时间、地点与活动图文正文。
页面示例标题与日期沿用现有原型，正式内容待配置。
交互说明：从列表或日程卡片进入同一活动详情。
返回原列表 / 日程位置；可按运营配置跳转公众号文章。
不默认增加活动单独报名、支付或预约步骤。
状态与对接：当前 H5 未实现详情页；本页说明目标展示结构。
优先复用现有活动后台，避免列表、日程和详情信息不一致。
阅读提示：现有原型实截图只证明前端演示状态；标注“规划示意”的图片是本次为说明文档补充的设计，不代表功能已实现。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依据第二标签页“页面规划”。
来源：页面规划 C9:H9；当前入口尚为占位提示
展示内容：服务政策图文、售后保障体系介绍。
图文中承载服务范围、流程等经审核的正式资料。
交互说明：点击“恒洁服务”进入详情，纵向浏览后返回专区。
支持现有图文编辑器；也可配置为跳转公众号文章。
状态与对接：正文、图片与最终链接待提供。
原型不预设客服电话、保障期限或服务时效等业务承诺。
阅读提示：现有原型实截图只证明前端演示状态；标注“规划示意”的图片是本次为说明文档补充的设计，不代表功能已实现。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依据第二标签页“页面规划”。
来源：页面规划 C10:G10；当前入口尚为占位提示
展示内容：四块内容：权益总览、专属礼品、折扣 / 优惠信息、使用说明。
正文需清晰呈现适用人群、条件和有效时间。
交互说明：点击“专属权益”进入图文页，按内容顺序阅读。
图文返回专区；表格未要求领券或兑换功能，不默认增加。
状态与对接：礼品图、优惠细则与使用条款待品牌审核。
原型不虚构折扣额度、礼品库存或报名即得等权益承诺。
阅读提示：现有原型实截图只证明前端演示状态；标注“规划示意”的图片是本次为说明文档补充的设计，不代表功能已实现。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依据第二标签页“页面规划”。
来源：页面规划 C11:F11“是否可跳转小程序产品页？”
展示内容：部分明星产品的图片、名称与简要介绍。
左图仅为内容结构示意，所有产品素材和名称待提供。
交互说明：优先建议复用小程序“产品”页，减少重复内容维护。
若需独立精选列表，点击产品卡片再进入既有产品详情。
状态与对接：需确认小程序产品页是否支持直达及指定产品集合。
确认前不承诺路由；是否采用独立列表由项目共同确定。
阅读提示：现有原型实截图只证明前端演示状态；标注“规划示意”的图片是本次为说明文档补充的设计，不代表功能已实现。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依据第二标签页“页面规划”。
来源：页面规划 C12:G12；index.html #schedule
展示内容：活动题图、主题、日期 / 距离开始提示与活动类别。
与“品牌活动”使用同一批内容，不另建重复活动数据。
交互说明：点击日程项应进入对应活动详情；MORE 进入活动列表。
按日期顺序浏览，返回时保留主页滚动位置。
状态与对接：现有 MORE 可进入列表，日程卡片详情仍为占位。
D-19 / D-0 为现有静态文案；上线需按真实时间计算并处理结束状态。
阅读提示：现有原型实截图只证明前端演示状态；标注“规划示意”的图片是本次为说明文档补充的设计，不代表功能已实现。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以上为对接事项，不是已经承诺的业务功能。工作簿备注列提出的问题保留为待确认项。最终实施以正式接口、运营资料与小程序现有模块能力为准。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最后一页为PC后台全页截图。此后台不属于表格第二标签页的11项移动端规划，按用户要求附在末页。截图展示示例概览和4条示例记录，不能据此声称真实接口已实现。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12280" cy="6858000"/>
          </a:xfrm>
          <a:prstGeom prst="rect">
            <a:avLst/>
          </a:prstGeom>
          <a:solidFill>
            <a:srgbClr val="00366A"/>
          </a:solidFill>
          <a:ln w="7620">
            <a:solidFill>
              <a:srgbClr val="0036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303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恒洁 HEGII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150876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广州设计周</a:t>
            </a:r>
            <a:endParaRPr lang="en-US" sz="33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小程序 H5 原型说明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13232" y="3337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9E8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页面展示内容 · 交互路径 · 关键状态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13232" y="4114800"/>
            <a:ext cx="5303520" cy="10973"/>
          </a:xfrm>
          <a:prstGeom prst="rect">
            <a:avLst/>
          </a:prstGeom>
          <a:solidFill>
            <a:srgbClr val="6386A7"/>
          </a:solidFill>
          <a:ln w="7620">
            <a:solidFill>
              <a:srgbClr val="6386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438912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E8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依据《广州设计周专区规划方案1009》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9E8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第二标签页：页面规划（11 项）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3232" y="562356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3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沿用现有 H5 视觉与页面结构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FD3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实截图 + 补充规划示意｜2026.10.16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278624" y="941832"/>
            <a:ext cx="2066544" cy="4096512"/>
          </a:xfrm>
          <a:prstGeom prst="rect">
            <a:avLst/>
          </a:prstGeom>
          <a:solidFill>
            <a:srgbClr val="FFFFFF"/>
          </a:solidFill>
          <a:ln w="7620">
            <a:solidFill>
              <a:srgbClr val="DCE5EE"/>
            </a:solidFill>
            <a:prstDash val="solid"/>
          </a:ln>
        </p:spPr>
      </p:sp>
      <p:pic>
        <p:nvPicPr>
          <p:cNvPr id="10" name="Image 0" descr="/workspace/hengjie-presentation/screens/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912" y="960120"/>
            <a:ext cx="2029968" cy="405993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296912" y="5111496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367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小程序首页 · 设计周入口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9610344" y="1929384"/>
            <a:ext cx="2066544" cy="4096512"/>
          </a:xfrm>
          <a:prstGeom prst="rect">
            <a:avLst/>
          </a:prstGeom>
          <a:solidFill>
            <a:srgbClr val="FFFFFF"/>
          </a:solidFill>
          <a:ln w="7620">
            <a:solidFill>
              <a:srgbClr val="DCE5EE"/>
            </a:solidFill>
            <a:prstDash val="solid"/>
          </a:ln>
        </p:spPr>
      </p:sp>
      <p:pic>
        <p:nvPicPr>
          <p:cNvPr id="13" name="Image 1" descr="/workspace/hengjie-presentation/screens/main-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8632" y="1947672"/>
            <a:ext cx="2029968" cy="40599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628632" y="6099048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367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H5 专区 · 报名与内容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0366A"/>
          </a:solidFill>
          <a:ln w="7620">
            <a:solidFill>
              <a:srgbClr val="0036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652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页面范围与访问路径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8595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367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表格 11 项逐项对应；成功页、活动详情与“我的凭证”为完整流程所需状态。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6492240"/>
            <a:ext cx="11091672" cy="10973"/>
          </a:xfrm>
          <a:prstGeom prst="rect">
            <a:avLst/>
          </a:prstGeom>
          <a:solidFill>
            <a:srgbClr val="DCE5EE"/>
          </a:solidFill>
          <a:ln w="7620">
            <a:solidFill>
              <a:srgbClr val="DC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601968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367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来源：页面规划 A2:H12；“我的凭证”来自现有 H5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18520" y="656539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325880"/>
          <a:ext cx="11000232" cy="4434840"/>
        </p:xfrm>
        <a:graphic>
          <a:graphicData uri="http://schemas.openxmlformats.org/drawingml/2006/table">
            <a:tbl>
              <a:tblPr/>
              <a:tblGrid>
                <a:gridCol w="1005840"/>
                <a:gridCol w="2560320"/>
                <a:gridCol w="1325880"/>
                <a:gridCol w="610819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63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表格编号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64008" marB="64008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63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模块 / 页面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64008" marB="64008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63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本说明页码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64008" marB="64008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63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主要访问关系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64008" marB="64008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63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64008" marB="64008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63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首页海报 / 弹窗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64008" marB="64008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63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03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64008" marB="64008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63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报名通道 → 专区主页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64008" marB="64008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63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64008" marB="64008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63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专区主页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64008" marB="64008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63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04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64008" marB="64008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63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轮播 → 双报名入口 → 内容导航 → 日程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64008" marB="64008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63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3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64008" marB="64008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63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顶部轮播图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64008" marB="64008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63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05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64008" marB="64008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63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自动 / 手动切换主题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64008" marB="64008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63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4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64008" marB="64008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63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现场扫码报名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64008" marB="64008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63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06–07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64008" marB="64008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63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填写表单 → 登记成功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64008" marB="64008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63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5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64008" marB="64008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63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VIP 邀约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64008" marB="64008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63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08–09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64008" marB="64008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63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定向邀约 → 表单 → VIP 凭证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64008" marB="64008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63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6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64008" marB="64008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63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展馆介绍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64008" marB="64008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63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11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64008" marB="64008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63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导航卡片 → 图文详情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64008" marB="64008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63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7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64008" marB="64008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63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品牌活动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64008" marB="64008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63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12–13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64008" marB="64008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63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设计周活动列表 → 活动详情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64008" marB="64008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63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8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64008" marB="64008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63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恒洁服务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64008" marB="64008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63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14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64008" marB="64008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63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导航卡片 → 服务政策 / 售后保障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64008" marB="64008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63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9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64008" marB="64008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63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专属权益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64008" marB="64008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63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15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64008" marB="64008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63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导航卡片 → 礼品 / 优惠 / 使用说明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64008" marB="64008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63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10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64008" marB="64008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63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明星产品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64008" marB="64008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63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16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64008" marB="64008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63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导航卡片 → 产品页（路径待确认）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64008" marB="64008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63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11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64008" marB="64008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63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活动日程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64008" marB="64008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63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17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64008" marB="64008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63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日程卡片 → 同一活动详情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64008" marB="64008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94360" y="1325880"/>
            <a:ext cx="11000232" cy="365760"/>
          </a:xfrm>
          <a:prstGeom prst="rect">
            <a:avLst/>
          </a:prstGeom>
          <a:solidFill>
            <a:srgbClr val="00366A"/>
          </a:solidFill>
          <a:ln w="7620">
            <a:solidFill>
              <a:srgbClr val="00366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04088" y="13990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表格编号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709928" y="13990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模块 / 页面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270248" y="139903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本说明页码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596128" y="1399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主要访问关系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58368" y="598932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补充状态：10 我的凭证｜18 对接确认清单｜19 PC 留资数据看板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0366A"/>
          </a:solidFill>
          <a:ln w="7620">
            <a:solidFill>
              <a:srgbClr val="0036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652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首页入口｜设计周主题弹窗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8595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367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现有原型实截图 · 小程序首页入口 · 表格编号 1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6492240"/>
            <a:ext cx="11091672" cy="10973"/>
          </a:xfrm>
          <a:prstGeom prst="rect">
            <a:avLst/>
          </a:prstGeom>
          <a:solidFill>
            <a:srgbClr val="DCE5EE"/>
          </a:solidFill>
          <a:ln w="7620">
            <a:solidFill>
              <a:srgbClr val="DC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601968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367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来源：页面规划 B2:G2；home.html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18520" y="656539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13232" y="1307592"/>
            <a:ext cx="2450592" cy="4864608"/>
          </a:xfrm>
          <a:prstGeom prst="rect">
            <a:avLst/>
          </a:prstGeom>
          <a:solidFill>
            <a:srgbClr val="FFFFFF"/>
          </a:solidFill>
          <a:ln w="7620">
            <a:solidFill>
              <a:srgbClr val="DCE5EE"/>
            </a:solidFill>
            <a:prstDash val="solid"/>
          </a:ln>
        </p:spPr>
      </p:sp>
      <p:pic>
        <p:nvPicPr>
          <p:cNvPr id="9" name="Image 0" descr="/workspace/hengjie-presentation/screens/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2414016" cy="4828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6245352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367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现有：首页自动弹窗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767328" y="1371600"/>
            <a:ext cx="7754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展示内容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767328" y="1728216"/>
            <a:ext cx="775411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恒洁水纹主视觉、广州设计周主题标题。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底部突出“报名通道”，右上角保留关闭入口。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767328" y="2779776"/>
            <a:ext cx="7754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交互说明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767328" y="3136392"/>
            <a:ext cx="7754112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进入首页展示弹窗；点击“报名通道”进入 H5 专区。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关闭后回到首页，仍可从“品牌活动”进入报名专区。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支持键盘关闭和焦点返回。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3767328" y="4581144"/>
            <a:ext cx="7754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状态与对接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767328" y="4937760"/>
            <a:ext cx="775411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弹窗展示频次、有效展期需由运营确认。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当前每次打开首页展示；不擅自增加每日限次规则。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3767328" y="5989320"/>
            <a:ext cx="7754112" cy="347472"/>
          </a:xfrm>
          <a:prstGeom prst="rect">
            <a:avLst/>
          </a:prstGeom>
          <a:solidFill>
            <a:srgbClr val="EAF2F8"/>
          </a:solidFill>
          <a:ln w="7620">
            <a:solidFill>
              <a:srgbClr val="EAF2F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77056" y="6053328"/>
            <a:ext cx="75346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首页 → 设计周弹窗 → 报名通道 → 专区主页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0366A"/>
          </a:solidFill>
          <a:ln w="7620">
            <a:solidFill>
              <a:srgbClr val="0036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652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专区主页｜报名入口与内容导航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8595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367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现有原型实截图 · 上下滚动浏览同一页面 · 表格编号 2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6492240"/>
            <a:ext cx="11091672" cy="10973"/>
          </a:xfrm>
          <a:prstGeom prst="rect">
            <a:avLst/>
          </a:prstGeom>
          <a:solidFill>
            <a:srgbClr val="DCE5EE"/>
          </a:solidFill>
          <a:ln w="7620">
            <a:solidFill>
              <a:srgbClr val="DC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601968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367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来源：页面规划 B3:G3；index.html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18520" y="656539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380744"/>
            <a:ext cx="2212848" cy="4389120"/>
          </a:xfrm>
          <a:prstGeom prst="rect">
            <a:avLst/>
          </a:prstGeom>
          <a:solidFill>
            <a:srgbClr val="FFFFFF"/>
          </a:solidFill>
          <a:ln w="7620">
            <a:solidFill>
              <a:srgbClr val="DCE5EE"/>
            </a:solidFill>
            <a:prstDash val="solid"/>
          </a:ln>
        </p:spPr>
      </p:sp>
      <p:pic>
        <p:nvPicPr>
          <p:cNvPr id="9" name="Image 0" descr="/workspace/hengjie-presentation/screens/main-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99032"/>
            <a:ext cx="2176272" cy="43525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66928" y="5843016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367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首屏：品牌氛围 / 双报名入口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944368" y="1380744"/>
            <a:ext cx="2212848" cy="4389120"/>
          </a:xfrm>
          <a:prstGeom prst="rect">
            <a:avLst/>
          </a:prstGeom>
          <a:solidFill>
            <a:srgbClr val="FFFFFF"/>
          </a:solidFill>
          <a:ln w="7620">
            <a:solidFill>
              <a:srgbClr val="DCE5EE"/>
            </a:solidFill>
            <a:prstDash val="solid"/>
          </a:ln>
        </p:spPr>
      </p:sp>
      <p:pic>
        <p:nvPicPr>
          <p:cNvPr id="12" name="Image 1" descr="/workspace/hengjie-presentation/screens/main-botto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656" y="1399032"/>
            <a:ext cx="2176272" cy="43525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62656" y="5843016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367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下屏：指南 / 日程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5632704" y="1371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展示内容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632704" y="1728216"/>
            <a:ext cx="5943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顶部主题轮播、展期提示、现场扫码和 VIP 邀约。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下方展示五类内容入口、“我的凭证”及活动日程。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5632704" y="277977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交互说明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632704" y="3136392"/>
            <a:ext cx="594360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点击报名卡片打开对应表单；返回后继续浏览主页。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导航卡片进入对应列表或图文页；日程连接活动详情。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5632704" y="458114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状态与对接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632704" y="4937760"/>
            <a:ext cx="5943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现有页面保持深蓝视觉、苹方优先字体。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图文/视频素材按后台能力配置；现版尚无视频模块。</a:t>
            </a:r>
            <a:endParaRPr lang="en-US" sz="1700" dirty="0"/>
          </a:p>
        </p:txBody>
      </p:sp>
      <p:sp>
        <p:nvSpPr>
          <p:cNvPr id="20" name="Shape 16"/>
          <p:cNvSpPr/>
          <p:nvPr/>
        </p:nvSpPr>
        <p:spPr>
          <a:xfrm>
            <a:off x="5632704" y="5989320"/>
            <a:ext cx="5943600" cy="347472"/>
          </a:xfrm>
          <a:prstGeom prst="rect">
            <a:avLst/>
          </a:prstGeom>
          <a:solidFill>
            <a:srgbClr val="EAF2F8"/>
          </a:solidFill>
          <a:ln w="7620">
            <a:solidFill>
              <a:srgbClr val="EAF2F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742432" y="6053328"/>
            <a:ext cx="57241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主视觉 → 报名 → 内容导航 → 活动日程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0366A"/>
          </a:solidFill>
          <a:ln w="7620">
            <a:solidFill>
              <a:srgbClr val="0036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652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顶部轮播｜主题内容切换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8595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367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现有原型实截图 · 主页内组件，不新增独立页面 · 表格编号 3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6492240"/>
            <a:ext cx="11091672" cy="10973"/>
          </a:xfrm>
          <a:prstGeom prst="rect">
            <a:avLst/>
          </a:prstGeom>
          <a:solidFill>
            <a:srgbClr val="DCE5EE"/>
          </a:solidFill>
          <a:ln w="7620">
            <a:solidFill>
              <a:srgbClr val="DC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601968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367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来源：页面规划 C4:D4、G4；index.html .carousel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18520" y="656539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13232" y="1307592"/>
            <a:ext cx="2450592" cy="4864608"/>
          </a:xfrm>
          <a:prstGeom prst="rect">
            <a:avLst/>
          </a:prstGeom>
          <a:solidFill>
            <a:srgbClr val="FFFFFF"/>
          </a:solidFill>
          <a:ln w="7620">
            <a:solidFill>
              <a:srgbClr val="DCE5EE"/>
            </a:solidFill>
            <a:prstDash val="solid"/>
          </a:ln>
        </p:spPr>
      </p:sp>
      <p:pic>
        <p:nvPicPr>
          <p:cNvPr id="9" name="Image 0" descr="/workspace/hengjie-presentation/screens/carous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2414016" cy="4828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6245352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367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现有：第二张主题轮播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767328" y="1371600"/>
            <a:ext cx="7754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展示内容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767328" y="1728216"/>
            <a:ext cx="775411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品牌标识、主题文案、展期或场地信息。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当前共 3 张，底部切换指示和暂停/播放按钮可见。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767328" y="2779776"/>
            <a:ext cx="7754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交互说明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767328" y="3136392"/>
            <a:ext cx="7754112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当前约 4.6 秒自动切换，点击指示切至对应主题。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悬停、键盘操作时暂停；减少动态效果模式默认不自动播放。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如需点击海报跳转，单独配置目标页，不默认全图可点。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3767328" y="4581144"/>
            <a:ext cx="7754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状态与对接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767328" y="4937760"/>
            <a:ext cx="775411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当前轮播高度 402 CSS px；390 宽视口约为 390:402。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正式图片比例、张数、顺序、时长及跳转参数待确认。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3767328" y="5989320"/>
            <a:ext cx="7754112" cy="347472"/>
          </a:xfrm>
          <a:prstGeom prst="rect">
            <a:avLst/>
          </a:prstGeom>
          <a:solidFill>
            <a:srgbClr val="EAF2F8"/>
          </a:solidFill>
          <a:ln w="7620">
            <a:solidFill>
              <a:srgbClr val="EAF2F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77056" y="6053328"/>
            <a:ext cx="75346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专区主页 → 自动播放 / 手动切换 / 暂停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0366A"/>
          </a:solidFill>
          <a:ln w="7620">
            <a:solidFill>
              <a:srgbClr val="0036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652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现场扫码｜报名表单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8595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367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现有原型实截图 · 现场到访人群留资 · 表格编号 4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6492240"/>
            <a:ext cx="11091672" cy="10973"/>
          </a:xfrm>
          <a:prstGeom prst="rect">
            <a:avLst/>
          </a:prstGeom>
          <a:solidFill>
            <a:srgbClr val="DCE5EE"/>
          </a:solidFill>
          <a:ln w="7620">
            <a:solidFill>
              <a:srgbClr val="DC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601968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367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来源：页面规划 C5:G5；index.html 报名弹窗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18520" y="656539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13232" y="1307592"/>
            <a:ext cx="2450592" cy="4864608"/>
          </a:xfrm>
          <a:prstGeom prst="rect">
            <a:avLst/>
          </a:prstGeom>
          <a:solidFill>
            <a:srgbClr val="FFFFFF"/>
          </a:solidFill>
          <a:ln w="7620">
            <a:solidFill>
              <a:srgbClr val="DCE5EE"/>
            </a:solidFill>
            <a:prstDash val="solid"/>
          </a:ln>
        </p:spPr>
      </p:sp>
      <p:pic>
        <p:nvPicPr>
          <p:cNvPr id="9" name="Image 0" descr="/workspace/hengjie-presentation/screens/live-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2414016" cy="4828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6245352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367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现有：现场扫码报名表单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767328" y="1371600"/>
            <a:ext cx="7754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展示内容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767328" y="1728216"/>
            <a:ext cx="775411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姓名、联系电话、公司 / 工作室、所在城市、设计类型。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城市使用下拉选择；设计类型为家装设计、工装设计、其他。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767328" y="2779776"/>
            <a:ext cx="7754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交互说明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767328" y="3136392"/>
            <a:ext cx="7754112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点击现场扫码入口打开表单，必填项及电话格式校验。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选择下拉项后回填；校验通过后提交，进入登记成功状态。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关闭返回原页面，不触发提交。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3767328" y="4581144"/>
            <a:ext cx="7754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状态与对接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767328" y="4937760"/>
            <a:ext cx="775411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当前为前端提交演示，未真实保存留资。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建议接口阶段补充提交中防重复、失败提示与保留输入。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3767328" y="5989320"/>
            <a:ext cx="7754112" cy="347472"/>
          </a:xfrm>
          <a:prstGeom prst="rect">
            <a:avLst/>
          </a:prstGeom>
          <a:solidFill>
            <a:srgbClr val="EAF2F8"/>
          </a:solidFill>
          <a:ln w="7620">
            <a:solidFill>
              <a:srgbClr val="EAF2F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77056" y="6053328"/>
            <a:ext cx="75346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现场扫码入口 → 填写 / 选择 → 校验 → 提交登记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0366A"/>
          </a:solidFill>
          <a:ln w="7620">
            <a:solidFill>
              <a:srgbClr val="0036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652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现场扫码｜登记成功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8595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367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现有原型实截图 · 报名完成后的状态页 · 表格编号 4 补充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6492240"/>
            <a:ext cx="11091672" cy="10973"/>
          </a:xfrm>
          <a:prstGeom prst="rect">
            <a:avLst/>
          </a:prstGeom>
          <a:solidFill>
            <a:srgbClr val="DCE5EE"/>
          </a:solidFill>
          <a:ln w="7620">
            <a:solidFill>
              <a:srgbClr val="DC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601968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367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来源：页面规划 G5“报名成功页面设计”；现有 H5 成功状态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18520" y="656539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13232" y="1307592"/>
            <a:ext cx="2450592" cy="4864608"/>
          </a:xfrm>
          <a:prstGeom prst="rect">
            <a:avLst/>
          </a:prstGeom>
          <a:solidFill>
            <a:srgbClr val="FFFFFF"/>
          </a:solidFill>
          <a:ln w="7620">
            <a:solidFill>
              <a:srgbClr val="DCE5EE"/>
            </a:solidFill>
            <a:prstDash val="solid"/>
          </a:ln>
        </p:spPr>
      </p:sp>
      <p:pic>
        <p:nvPicPr>
          <p:cNvPr id="9" name="Image 0" descr="/workspace/hengjie-presentation/screens/live-suc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2414016" cy="4828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6245352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367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现有：成功提示与演示凭证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767328" y="1371600"/>
            <a:ext cx="7754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展示内容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767328" y="1728216"/>
            <a:ext cx="775411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“登记成功”反馈、现场扫码渠道标签、完成按钮。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现有 H5 同时展示演示二维码与凭证编码。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767328" y="2779776"/>
            <a:ext cx="7754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交互说明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767328" y="3136392"/>
            <a:ext cx="7754112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点击“完成”关闭成功弹窗并返回专区。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再次点击“我的凭证”，可读取本机保存的报名状态。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3767328" y="4581144"/>
            <a:ext cx="7754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状态与对接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767328" y="4937760"/>
            <a:ext cx="775411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表格明确要求成功页，未明确现场通道是否需二维码。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目前保留现有演示凭证；真实核销与凭证发放规则待确认。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3767328" y="5989320"/>
            <a:ext cx="7754112" cy="347472"/>
          </a:xfrm>
          <a:prstGeom prst="rect">
            <a:avLst/>
          </a:prstGeom>
          <a:solidFill>
            <a:srgbClr val="EAF2F8"/>
          </a:solidFill>
          <a:ln w="7620">
            <a:solidFill>
              <a:srgbClr val="EAF2F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77056" y="6053328"/>
            <a:ext cx="75346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提交登记 → 登记成功 → 完成 → 专区 / 我的凭证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0366A"/>
          </a:solidFill>
          <a:ln w="7620">
            <a:solidFill>
              <a:srgbClr val="0036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652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VIP 邀约｜表单与下拉选择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8595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367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左：现有表单实截图｜右：下拉交互规划示意 · 表格编号 5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6492240"/>
            <a:ext cx="11091672" cy="10973"/>
          </a:xfrm>
          <a:prstGeom prst="rect">
            <a:avLst/>
          </a:prstGeom>
          <a:solidFill>
            <a:srgbClr val="DCE5EE"/>
          </a:solidFill>
          <a:ln w="7620">
            <a:solidFill>
              <a:srgbClr val="DC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601968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367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来源：页面规划 C6:G6，含定向分享及下拉选项要求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18520" y="656539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380744"/>
            <a:ext cx="2212848" cy="4389120"/>
          </a:xfrm>
          <a:prstGeom prst="rect">
            <a:avLst/>
          </a:prstGeom>
          <a:solidFill>
            <a:srgbClr val="FFFFFF"/>
          </a:solidFill>
          <a:ln w="7620">
            <a:solidFill>
              <a:srgbClr val="DCE5EE"/>
            </a:solidFill>
            <a:prstDash val="solid"/>
          </a:ln>
        </p:spPr>
      </p:sp>
      <p:pic>
        <p:nvPicPr>
          <p:cNvPr id="9" name="Image 0" descr="/workspace/hengjie-presentation/screens/vip-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99032"/>
            <a:ext cx="2176272" cy="43525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66928" y="5843016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367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现有：VIP 邀约表单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944368" y="1380744"/>
            <a:ext cx="2212848" cy="4389120"/>
          </a:xfrm>
          <a:prstGeom prst="rect">
            <a:avLst/>
          </a:prstGeom>
          <a:solidFill>
            <a:srgbClr val="FFFFFF"/>
          </a:solidFill>
          <a:ln w="7620">
            <a:solidFill>
              <a:srgbClr val="DCE5EE"/>
            </a:solidFill>
            <a:prstDash val="solid"/>
          </a:ln>
        </p:spPr>
      </p:sp>
      <p:pic>
        <p:nvPicPr>
          <p:cNvPr id="12" name="Image 1" descr="/workspace/hengjie-presentation/screens/vip-sele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656" y="1399032"/>
            <a:ext cx="2176272" cy="43525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62656" y="5843016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367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规划：设计类型选择示意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5632704" y="1371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展示内容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632704" y="1728216"/>
            <a:ext cx="5943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五个字段与现场报名一致，渠道显示为 VIP 邀约。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设计类型固定三项；城市列表由项目配置。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5632704" y="277977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交互说明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632704" y="3136392"/>
            <a:ext cx="594360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定向分享入口建议携带邀约标识并直达 VIP 表单。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选择项目 → 确认回填 → 校验提交 → 生成 VIP 凭证。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5632704" y="458114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状态与对接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632704" y="4937760"/>
            <a:ext cx="5943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现有表单使用系统原生下拉；右图为交互说明备选。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直达路由、分享载体、城市范围和邀请码校验尚待确认。</a:t>
            </a:r>
            <a:endParaRPr lang="en-US" sz="1700" dirty="0"/>
          </a:p>
        </p:txBody>
      </p:sp>
      <p:sp>
        <p:nvSpPr>
          <p:cNvPr id="20" name="Shape 16"/>
          <p:cNvSpPr/>
          <p:nvPr/>
        </p:nvSpPr>
        <p:spPr>
          <a:xfrm>
            <a:off x="5632704" y="5989320"/>
            <a:ext cx="5943600" cy="347472"/>
          </a:xfrm>
          <a:prstGeom prst="rect">
            <a:avLst/>
          </a:prstGeom>
          <a:solidFill>
            <a:srgbClr val="EAF2F8"/>
          </a:solidFill>
          <a:ln w="7620">
            <a:solidFill>
              <a:srgbClr val="EAF2F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742432" y="6053328"/>
            <a:ext cx="57241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定向邀请 → VIP 表单 → 下拉选择 → 提交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0366A"/>
          </a:solidFill>
          <a:ln w="7620">
            <a:solidFill>
              <a:srgbClr val="0036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652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VIP 邀约｜专属入场凭证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8595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367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现有原型实截图 · 专属码模板 · 表格编号 5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6492240"/>
            <a:ext cx="11091672" cy="10973"/>
          </a:xfrm>
          <a:prstGeom prst="rect">
            <a:avLst/>
          </a:prstGeom>
          <a:solidFill>
            <a:srgbClr val="DCE5EE"/>
          </a:solidFill>
          <a:ln w="7620">
            <a:solidFill>
              <a:srgbClr val="DC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601968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367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来源：页面规划 D6、G6“报名凭证模板 / 邀请码生成规则”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18520" y="656539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13232" y="1307592"/>
            <a:ext cx="2450592" cy="4864608"/>
          </a:xfrm>
          <a:prstGeom prst="rect">
            <a:avLst/>
          </a:prstGeom>
          <a:solidFill>
            <a:srgbClr val="FFFFFF"/>
          </a:solidFill>
          <a:ln w="7620">
            <a:solidFill>
              <a:srgbClr val="DCE5EE"/>
            </a:solidFill>
            <a:prstDash val="solid"/>
          </a:ln>
        </p:spPr>
      </p:sp>
      <p:pic>
        <p:nvPicPr>
          <p:cNvPr id="9" name="Image 0" descr="/workspace/hengjie-presentation/screens/vip-p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2414016" cy="4828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6245352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367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现有：VIP 演示凭证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767328" y="1371600"/>
            <a:ext cx="7754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展示内容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767328" y="1728216"/>
            <a:ext cx="775411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登记成功提示、VIP 标签、二维码、凭证编码及提示语。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沿用深蓝品牌样式，二维码区域保持清晰可辨。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767328" y="2779776"/>
            <a:ext cx="7754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交互说明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767328" y="3136392"/>
            <a:ext cx="7754112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成功后展示凭证；点击“完成”返回专区。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“我的凭证”可再次打开。真实场景由现场工作人员扫码核验。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3767328" y="4581144"/>
            <a:ext cx="7754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状态与对接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767328" y="4937760"/>
            <a:ext cx="775411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当前二维码为静态示例，不是可核销的专属码。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建议后端生成唯一标识并关联报名记录；有效期、防重核销、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邀约码与入场码的关系需单独确认。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3767328" y="5989320"/>
            <a:ext cx="7754112" cy="347472"/>
          </a:xfrm>
          <a:prstGeom prst="rect">
            <a:avLst/>
          </a:prstGeom>
          <a:solidFill>
            <a:srgbClr val="EAF2F8"/>
          </a:solidFill>
          <a:ln w="7620">
            <a:solidFill>
              <a:srgbClr val="EAF2F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77056" y="6053328"/>
            <a:ext cx="75346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VIP 表单提交 → VIP 凭证 → 再次查看 / 现场核验（待接入）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0366A"/>
          </a:solidFill>
          <a:ln w="7620">
            <a:solidFill>
              <a:srgbClr val="0036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652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我的凭证｜未报名与已报名状态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8595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367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现有 H5 补充入口 · 服务两类报名闭环 · 非表格新增业务要求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6492240"/>
            <a:ext cx="11091672" cy="10973"/>
          </a:xfrm>
          <a:prstGeom prst="rect">
            <a:avLst/>
          </a:prstGeom>
          <a:solidFill>
            <a:srgbClr val="DCE5EE"/>
          </a:solidFill>
          <a:ln w="7620">
            <a:solidFill>
              <a:srgbClr val="DC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601968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367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来源：现有 index.html“我的凭证”；关联表格编号 4、5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18520" y="656539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380744"/>
            <a:ext cx="2212848" cy="4389120"/>
          </a:xfrm>
          <a:prstGeom prst="rect">
            <a:avLst/>
          </a:prstGeom>
          <a:solidFill>
            <a:srgbClr val="FFFFFF"/>
          </a:solidFill>
          <a:ln w="7620">
            <a:solidFill>
              <a:srgbClr val="DCE5EE"/>
            </a:solidFill>
            <a:prstDash val="solid"/>
          </a:ln>
        </p:spPr>
      </p:sp>
      <p:pic>
        <p:nvPicPr>
          <p:cNvPr id="9" name="Image 0" descr="/workspace/hengjie-presentation/screens/pass-emp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99032"/>
            <a:ext cx="2176272" cy="43525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66928" y="5843016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367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现有：未报名提示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944368" y="1380744"/>
            <a:ext cx="2212848" cy="4389120"/>
          </a:xfrm>
          <a:prstGeom prst="rect">
            <a:avLst/>
          </a:prstGeom>
          <a:solidFill>
            <a:srgbClr val="FFFFFF"/>
          </a:solidFill>
          <a:ln w="7620">
            <a:solidFill>
              <a:srgbClr val="DCE5EE"/>
            </a:solidFill>
            <a:prstDash val="solid"/>
          </a:ln>
        </p:spPr>
      </p:sp>
      <p:pic>
        <p:nvPicPr>
          <p:cNvPr id="12" name="Image 1" descr="/workspace/hengjie-presentation/screens/my-pa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656" y="1399032"/>
            <a:ext cx="2176272" cy="43525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62656" y="5843016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367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现有：再次查看我的凭证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5632704" y="1371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展示内容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632704" y="1728216"/>
            <a:ext cx="5943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未报名：提示暂未获取凭证，提供“暂不报名 / 去报名”。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已报名：展示所属渠道的凭证内容。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5632704" y="277977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交互说明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632704" y="3136392"/>
            <a:ext cx="594360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未报名点击“去报名”打开表单；取消返回专区。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已报名直接打开凭证，完成后回到原页面。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5632704" y="458114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状态与对接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632704" y="4937760"/>
            <a:ext cx="5943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当前状态仅存于本机浏览器，清理存储后会消失。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跨设备查询需接入身份与留资关联；不将本机状态视为正式核验。</a:t>
            </a:r>
            <a:endParaRPr lang="en-US" sz="1700" dirty="0"/>
          </a:p>
        </p:txBody>
      </p:sp>
      <p:sp>
        <p:nvSpPr>
          <p:cNvPr id="20" name="Shape 16"/>
          <p:cNvSpPr/>
          <p:nvPr/>
        </p:nvSpPr>
        <p:spPr>
          <a:xfrm>
            <a:off x="5632704" y="5989320"/>
            <a:ext cx="5943600" cy="347472"/>
          </a:xfrm>
          <a:prstGeom prst="rect">
            <a:avLst/>
          </a:prstGeom>
          <a:solidFill>
            <a:srgbClr val="EAF2F8"/>
          </a:solidFill>
          <a:ln w="7620">
            <a:solidFill>
              <a:srgbClr val="EAF2F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742432" y="6053328"/>
            <a:ext cx="57241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我的凭证 → 未报名提示 / 已报名凭证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0366A"/>
          </a:solidFill>
          <a:ln w="7620">
            <a:solidFill>
              <a:srgbClr val="0036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652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展馆介绍｜图文详情页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8595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367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补充规划示意 · 沿用 H5 视觉 · 表格编号 6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6492240"/>
            <a:ext cx="11091672" cy="10973"/>
          </a:xfrm>
          <a:prstGeom prst="rect">
            <a:avLst/>
          </a:prstGeom>
          <a:solidFill>
            <a:srgbClr val="DCE5EE"/>
          </a:solidFill>
          <a:ln w="7620">
            <a:solidFill>
              <a:srgbClr val="DC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601968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367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来源：页面规划 C7:H7；当前入口尚为占位提示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18520" y="656539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13232" y="1307592"/>
            <a:ext cx="2450592" cy="4864608"/>
          </a:xfrm>
          <a:prstGeom prst="rect">
            <a:avLst/>
          </a:prstGeom>
          <a:solidFill>
            <a:srgbClr val="FFFFFF"/>
          </a:solidFill>
          <a:ln w="7620">
            <a:solidFill>
              <a:srgbClr val="DCE5EE"/>
            </a:solidFill>
            <a:prstDash val="solid"/>
          </a:ln>
        </p:spPr>
      </p:sp>
      <p:pic>
        <p:nvPicPr>
          <p:cNvPr id="9" name="Image 0" descr="/workspace/hengjie-presentation/screens/exhibi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2414016" cy="4828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6245352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367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规划：展馆图文页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767328" y="1371600"/>
            <a:ext cx="7754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展示内容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767328" y="1728216"/>
            <a:ext cx="775411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展馆主题、实景或导览图、展馆介绍正文。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位置与参观路线可随正式图文内容配置，资料待品牌提供。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767328" y="2779776"/>
            <a:ext cx="7754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交互说明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767328" y="3136392"/>
            <a:ext cx="7754112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主页“展馆介绍” → 图文详情；纵向阅读，返回专区。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按表格对接意见，可使用图文编辑器、整张长图或公众号链接。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3767328" y="4581144"/>
            <a:ext cx="7754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状态与对接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767328" y="4937760"/>
            <a:ext cx="775411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 H5 尚无真实详情页；左图为本次补充原型。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需确认最终承载方式及长图清晰度，正式场馆信息不得用占位代替。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3767328" y="5989320"/>
            <a:ext cx="7754112" cy="347472"/>
          </a:xfrm>
          <a:prstGeom prst="rect">
            <a:avLst/>
          </a:prstGeom>
          <a:solidFill>
            <a:srgbClr val="EAF2F8"/>
          </a:solidFill>
          <a:ln w="7620">
            <a:solidFill>
              <a:srgbClr val="EAF2F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77056" y="6053328"/>
            <a:ext cx="75346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专区 → 展馆介绍 → 图文阅读 / 公众号文章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0366A"/>
          </a:solidFill>
          <a:ln w="7620">
            <a:solidFill>
              <a:srgbClr val="0036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652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品牌活动｜设计周活动列表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8595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367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现有原型实截图 · 复用活动模块 · 表格编号 7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6492240"/>
            <a:ext cx="11091672" cy="10973"/>
          </a:xfrm>
          <a:prstGeom prst="rect">
            <a:avLst/>
          </a:prstGeom>
          <a:solidFill>
            <a:srgbClr val="DCE5EE"/>
          </a:solidFill>
          <a:ln w="7620">
            <a:solidFill>
              <a:srgbClr val="DC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601968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367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来源：页面规划 C8:H8；现有 activity-page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18520" y="656539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13232" y="1307592"/>
            <a:ext cx="2450592" cy="4864608"/>
          </a:xfrm>
          <a:prstGeom prst="rect">
            <a:avLst/>
          </a:prstGeom>
          <a:solidFill>
            <a:srgbClr val="FFFFFF"/>
          </a:solidFill>
          <a:ln w="7620">
            <a:solidFill>
              <a:srgbClr val="DCE5EE"/>
            </a:solidFill>
            <a:prstDash val="solid"/>
          </a:ln>
        </p:spPr>
      </p:sp>
      <p:pic>
        <p:nvPicPr>
          <p:cNvPr id="9" name="Image 0" descr="/workspace/hengjie-presentation/screens/activit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2414016" cy="4828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6245352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367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现有：品牌活动列表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767328" y="1371600"/>
            <a:ext cx="7754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展示内容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767328" y="1728216"/>
            <a:ext cx="775411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页面标题、搜索区域、分类栏、活动题图、名称、日期和状态。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列表入口默认应筛出设计周活动，排除其他品牌活动。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767328" y="2779776"/>
            <a:ext cx="7754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交互说明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767328" y="3136392"/>
            <a:ext cx="7754112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主页“品牌活动”或日程 MORE → 列表。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点击卡片进入对应活动详情；返回保留浏览位置。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搜索 / 分类按复用活动模块能力接入。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3767328" y="4581144"/>
            <a:ext cx="7754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状态与对接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767328" y="4937760"/>
            <a:ext cx="775411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现版列表可进入；搜索、真实筛选和卡片详情仍为占位。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“自动筛出设计周活动”属于表格对接要求，尚未实现。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3767328" y="5989320"/>
            <a:ext cx="7754112" cy="347472"/>
          </a:xfrm>
          <a:prstGeom prst="rect">
            <a:avLst/>
          </a:prstGeom>
          <a:solidFill>
            <a:srgbClr val="EAF2F8"/>
          </a:solidFill>
          <a:ln w="7620">
            <a:solidFill>
              <a:srgbClr val="EAF2F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77056" y="6053328"/>
            <a:ext cx="75346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专区 / MORE → 设计周活动列表 → 活动详情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0366A"/>
          </a:solidFill>
          <a:ln w="7620">
            <a:solidFill>
              <a:srgbClr val="0036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652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品牌活动｜活动详情页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8595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367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补充规划示意 · 列表与日程共用详情 · 表格编号 7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6492240"/>
            <a:ext cx="11091672" cy="10973"/>
          </a:xfrm>
          <a:prstGeom prst="rect">
            <a:avLst/>
          </a:prstGeom>
          <a:solidFill>
            <a:srgbClr val="DCE5EE"/>
          </a:solidFill>
          <a:ln w="7620">
            <a:solidFill>
              <a:srgbClr val="DC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601968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367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来源：页面规划 D8:H8；复用现有活动详情或公众号文章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18520" y="656539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13232" y="1307592"/>
            <a:ext cx="2450592" cy="4864608"/>
          </a:xfrm>
          <a:prstGeom prst="rect">
            <a:avLst/>
          </a:prstGeom>
          <a:solidFill>
            <a:srgbClr val="FFFFFF"/>
          </a:solidFill>
          <a:ln w="7620">
            <a:solidFill>
              <a:srgbClr val="DCE5EE"/>
            </a:solidFill>
            <a:prstDash val="solid"/>
          </a:ln>
        </p:spPr>
      </p:sp>
      <p:pic>
        <p:nvPicPr>
          <p:cNvPr id="9" name="Image 0" descr="/workspace/hengjie-presentation/screens/activity-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2414016" cy="4828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6245352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367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规划：活动详情图文页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767328" y="1371600"/>
            <a:ext cx="7754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展示内容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767328" y="1728216"/>
            <a:ext cx="775411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活动名称、主题海报、时间、地点与活动图文正文。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页面示例标题与日期沿用现有原型，正式内容待配置。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767328" y="2779776"/>
            <a:ext cx="7754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交互说明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767328" y="3136392"/>
            <a:ext cx="7754112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从列表或日程卡片进入同一活动详情。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返回原列表 / 日程位置；可按运营配置跳转公众号文章。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不默认增加活动单独报名、支付或预约步骤。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3767328" y="4581144"/>
            <a:ext cx="7754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状态与对接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767328" y="4937760"/>
            <a:ext cx="775411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 H5 未实现详情页；本页说明目标展示结构。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优先复用现有活动后台，避免列表、日程和详情信息不一致。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3767328" y="5989320"/>
            <a:ext cx="7754112" cy="347472"/>
          </a:xfrm>
          <a:prstGeom prst="rect">
            <a:avLst/>
          </a:prstGeom>
          <a:solidFill>
            <a:srgbClr val="EAF2F8"/>
          </a:solidFill>
          <a:ln w="7620">
            <a:solidFill>
              <a:srgbClr val="EAF2F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77056" y="6053328"/>
            <a:ext cx="75346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活动列表 / 活动日程 → 同一活动 ID → 活动详情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0366A"/>
          </a:solidFill>
          <a:ln w="7620">
            <a:solidFill>
              <a:srgbClr val="0036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652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恒洁服务｜服务政策与售后保障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8595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367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补充规划示意 · 图文详情页 · 表格编号 8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6492240"/>
            <a:ext cx="11091672" cy="10973"/>
          </a:xfrm>
          <a:prstGeom prst="rect">
            <a:avLst/>
          </a:prstGeom>
          <a:solidFill>
            <a:srgbClr val="DCE5EE"/>
          </a:solidFill>
          <a:ln w="7620">
            <a:solidFill>
              <a:srgbClr val="DC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601968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367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来源：页面规划 C9:H9；当前入口尚为占位提示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18520" y="656539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13232" y="1307592"/>
            <a:ext cx="2450592" cy="4864608"/>
          </a:xfrm>
          <a:prstGeom prst="rect">
            <a:avLst/>
          </a:prstGeom>
          <a:solidFill>
            <a:srgbClr val="FFFFFF"/>
          </a:solidFill>
          <a:ln w="7620">
            <a:solidFill>
              <a:srgbClr val="DCE5EE"/>
            </a:solidFill>
            <a:prstDash val="solid"/>
          </a:ln>
        </p:spPr>
      </p:sp>
      <p:pic>
        <p:nvPicPr>
          <p:cNvPr id="9" name="Image 0" descr="/workspace/hengjie-presentation/screens/serv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2414016" cy="4828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6245352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367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规划：服务图文页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767328" y="1371600"/>
            <a:ext cx="7754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展示内容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767328" y="1728216"/>
            <a:ext cx="775411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服务政策图文、售后保障体系介绍。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图文中承载服务范围、流程等经审核的正式资料。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767328" y="2779776"/>
            <a:ext cx="7754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交互说明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767328" y="3136392"/>
            <a:ext cx="7754112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点击“恒洁服务”进入详情，纵向浏览后返回专区。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支持现有图文编辑器；也可配置为跳转公众号文章。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3767328" y="4581144"/>
            <a:ext cx="7754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状态与对接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767328" y="4937760"/>
            <a:ext cx="775411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正文、图片与最终链接待提供。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原型不预设客服电话、保障期限或服务时效等业务承诺。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3767328" y="5989320"/>
            <a:ext cx="7754112" cy="347472"/>
          </a:xfrm>
          <a:prstGeom prst="rect">
            <a:avLst/>
          </a:prstGeom>
          <a:solidFill>
            <a:srgbClr val="EAF2F8"/>
          </a:solidFill>
          <a:ln w="7620">
            <a:solidFill>
              <a:srgbClr val="EAF2F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77056" y="6053328"/>
            <a:ext cx="75346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专区 → 恒洁服务 → 服务政策 / 售后保障图文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0366A"/>
          </a:solidFill>
          <a:ln w="7620">
            <a:solidFill>
              <a:srgbClr val="0036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652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专属权益｜礼品、优惠与使用说明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8595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367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补充规划示意 · 图文详情页 · 表格编号 9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6492240"/>
            <a:ext cx="11091672" cy="10973"/>
          </a:xfrm>
          <a:prstGeom prst="rect">
            <a:avLst/>
          </a:prstGeom>
          <a:solidFill>
            <a:srgbClr val="DCE5EE"/>
          </a:solidFill>
          <a:ln w="7620">
            <a:solidFill>
              <a:srgbClr val="DC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601968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367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来源：页面规划 C10:G10；当前入口尚为占位提示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18520" y="656539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13232" y="1307592"/>
            <a:ext cx="2450592" cy="4864608"/>
          </a:xfrm>
          <a:prstGeom prst="rect">
            <a:avLst/>
          </a:prstGeom>
          <a:solidFill>
            <a:srgbClr val="FFFFFF"/>
          </a:solidFill>
          <a:ln w="7620">
            <a:solidFill>
              <a:srgbClr val="DCE5EE"/>
            </a:solidFill>
            <a:prstDash val="solid"/>
          </a:ln>
        </p:spPr>
      </p:sp>
      <p:pic>
        <p:nvPicPr>
          <p:cNvPr id="9" name="Image 0" descr="/workspace/hengjie-presentation/screens/benefi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2414016" cy="4828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6245352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367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规划：权益内容页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767328" y="1371600"/>
            <a:ext cx="7754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展示内容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767328" y="1728216"/>
            <a:ext cx="775411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四块内容：权益总览、专属礼品、折扣 / 优惠信息、使用说明。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正文需清晰呈现适用人群、条件和有效时间。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767328" y="2779776"/>
            <a:ext cx="7754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交互说明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767328" y="3136392"/>
            <a:ext cx="7754112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点击“专属权益”进入图文页，按内容顺序阅读。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图文返回专区；表格未要求领券或兑换功能，不默认增加。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3767328" y="4581144"/>
            <a:ext cx="7754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状态与对接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767328" y="4937760"/>
            <a:ext cx="775411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礼品图、优惠细则与使用条款待品牌审核。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原型不虚构折扣额度、礼品库存或报名即得等权益承诺。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3767328" y="5989320"/>
            <a:ext cx="7754112" cy="347472"/>
          </a:xfrm>
          <a:prstGeom prst="rect">
            <a:avLst/>
          </a:prstGeom>
          <a:solidFill>
            <a:srgbClr val="EAF2F8"/>
          </a:solidFill>
          <a:ln w="7620">
            <a:solidFill>
              <a:srgbClr val="EAF2F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77056" y="6053328"/>
            <a:ext cx="75346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专区 → 专属权益 → 礼品 / 优惠 → 使用说明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0366A"/>
          </a:solidFill>
          <a:ln w="7620">
            <a:solidFill>
              <a:srgbClr val="0036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652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明星产品｜产品展示与跳转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8595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367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补充规划示意 · 独立列表备选，不代表已确认路由 · 表格编号 10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6492240"/>
            <a:ext cx="11091672" cy="10973"/>
          </a:xfrm>
          <a:prstGeom prst="rect">
            <a:avLst/>
          </a:prstGeom>
          <a:solidFill>
            <a:srgbClr val="DCE5EE"/>
          </a:solidFill>
          <a:ln w="7620">
            <a:solidFill>
              <a:srgbClr val="DC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601968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367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来源：页面规划 C11:F11“是否可跳转小程序产品页？”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18520" y="656539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13232" y="1307592"/>
            <a:ext cx="2450592" cy="4864608"/>
          </a:xfrm>
          <a:prstGeom prst="rect">
            <a:avLst/>
          </a:prstGeom>
          <a:solidFill>
            <a:srgbClr val="FFFFFF"/>
          </a:solidFill>
          <a:ln w="7620">
            <a:solidFill>
              <a:srgbClr val="DCE5EE"/>
            </a:solidFill>
            <a:prstDash val="solid"/>
          </a:ln>
        </p:spPr>
      </p:sp>
      <p:pic>
        <p:nvPicPr>
          <p:cNvPr id="9" name="Image 0" descr="/workspace/hengjie-presentation/screens/produc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2414016" cy="4828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6245352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367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规划备选：明星产品列表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767328" y="1371600"/>
            <a:ext cx="7754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展示内容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767328" y="1728216"/>
            <a:ext cx="775411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部分明星产品的图片、名称与简要介绍。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左图仅为内容结构示意，所有产品素材和名称待提供。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767328" y="2779776"/>
            <a:ext cx="7754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交互说明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767328" y="3136392"/>
            <a:ext cx="7754112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优先建议复用小程序“产品”页，减少重复内容维护。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若需独立精选列表，点击产品卡片再进入既有产品详情。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3767328" y="4581144"/>
            <a:ext cx="7754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状态与对接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767328" y="4937760"/>
            <a:ext cx="775411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需确认小程序产品页是否支持直达及指定产品集合。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确认前不承诺路由；是否采用独立列表由项目共同确定。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3767328" y="5989320"/>
            <a:ext cx="7754112" cy="347472"/>
          </a:xfrm>
          <a:prstGeom prst="rect">
            <a:avLst/>
          </a:prstGeom>
          <a:solidFill>
            <a:srgbClr val="EAF2F8"/>
          </a:solidFill>
          <a:ln w="7620">
            <a:solidFill>
              <a:srgbClr val="EAF2F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77056" y="6053328"/>
            <a:ext cx="75346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专区 → 小程序产品页（建议）/ 精选列表（备选）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0366A"/>
          </a:solidFill>
          <a:ln w="7620">
            <a:solidFill>
              <a:srgbClr val="0036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652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活动日程｜按日期呈现活动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8595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367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现有原型实截图 · 主页内区块 · 表格编号 11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6492240"/>
            <a:ext cx="11091672" cy="10973"/>
          </a:xfrm>
          <a:prstGeom prst="rect">
            <a:avLst/>
          </a:prstGeom>
          <a:solidFill>
            <a:srgbClr val="DCE5EE"/>
          </a:solidFill>
          <a:ln w="7620">
            <a:solidFill>
              <a:srgbClr val="DC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601968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367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来源：页面规划 C12:G12；index.html #schedule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18520" y="656539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13232" y="1307592"/>
            <a:ext cx="2450592" cy="4864608"/>
          </a:xfrm>
          <a:prstGeom prst="rect">
            <a:avLst/>
          </a:prstGeom>
          <a:solidFill>
            <a:srgbClr val="FFFFFF"/>
          </a:solidFill>
          <a:ln w="7620">
            <a:solidFill>
              <a:srgbClr val="DCE5EE"/>
            </a:solidFill>
            <a:prstDash val="solid"/>
          </a:ln>
        </p:spPr>
      </p:sp>
      <p:pic>
        <p:nvPicPr>
          <p:cNvPr id="9" name="Image 0" descr="/workspace/hengjie-presentation/screens/schedu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2414016" cy="4828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6245352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367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现有：活动日程区块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767328" y="1371600"/>
            <a:ext cx="7754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展示内容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767328" y="1728216"/>
            <a:ext cx="775411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活动题图、主题、日期 / 距离开始提示与活动类别。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与“品牌活动”使用同一批内容，不另建重复活动数据。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767328" y="2779776"/>
            <a:ext cx="7754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交互说明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767328" y="3136392"/>
            <a:ext cx="7754112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点击日程项应进入对应活动详情；MORE 进入活动列表。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按日期顺序浏览，返回时保留主页滚动位置。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3767328" y="4581144"/>
            <a:ext cx="7754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状态与对接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767328" y="4937760"/>
            <a:ext cx="775411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现有 MORE 可进入列表，日程卡片详情仍为占位。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D-19 / D-0 为现有静态文案；上线需按真实时间计算并处理结束状态。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3767328" y="5989320"/>
            <a:ext cx="7754112" cy="347472"/>
          </a:xfrm>
          <a:prstGeom prst="rect">
            <a:avLst/>
          </a:prstGeom>
          <a:solidFill>
            <a:srgbClr val="EAF2F8"/>
          </a:solidFill>
          <a:ln w="7620">
            <a:solidFill>
              <a:srgbClr val="EAF2F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77056" y="6053328"/>
            <a:ext cx="75346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日程卡片 → 活动详情；MORE → 品牌活动列表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0366A"/>
          </a:solidFill>
          <a:ln w="7620">
            <a:solidFill>
              <a:srgbClr val="0036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652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交互与内容对接｜上线前需确认的事项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8595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367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区分表格要求、现有演示能力与后续接入；避免把规划示意视为已开发功能。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6492240"/>
            <a:ext cx="11091672" cy="10973"/>
          </a:xfrm>
          <a:prstGeom prst="rect">
            <a:avLst/>
          </a:prstGeom>
          <a:solidFill>
            <a:srgbClr val="DCE5EE"/>
          </a:solidFill>
          <a:ln w="7620">
            <a:solidFill>
              <a:srgbClr val="DC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601968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367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来源：页面规划 F2:H12；现有 H5 与 PC 原型核对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18520" y="656539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417320"/>
            <a:ext cx="1874520" cy="1097280"/>
          </a:xfrm>
          <a:prstGeom prst="rect">
            <a:avLst/>
          </a:prstGeom>
          <a:solidFill>
            <a:srgbClr val="00366A"/>
          </a:solidFill>
          <a:ln w="7620">
            <a:solidFill>
              <a:srgbClr val="0036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773936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报名与凭证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743200" y="1453896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VIP 定向分享载体 / 直达路径；邀约码与入场码关系；唯一性、有效期和重复核销规则。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43200" y="2048256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367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现场扫码成功后是否同样发放二维码；身份关联、跨设备查询与失败重试。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" y="2788920"/>
            <a:ext cx="1874520" cy="1097280"/>
          </a:xfrm>
          <a:prstGeom prst="rect">
            <a:avLst/>
          </a:prstGeom>
          <a:solidFill>
            <a:srgbClr val="00366A"/>
          </a:solidFill>
          <a:ln w="7620">
            <a:solidFill>
              <a:srgbClr val="0036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3145536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图文与产品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743200" y="2825496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展馆、服务、权益：选择图文编辑器、长图或公众号；提供正式图片、正文和链接。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743200" y="3419856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367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明星产品：确认产品页直达能力、指定产品集合，以及是否需要独立精选列表。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1874520" cy="1097280"/>
          </a:xfrm>
          <a:prstGeom prst="rect">
            <a:avLst/>
          </a:prstGeom>
          <a:solidFill>
            <a:srgbClr val="00366A"/>
          </a:solidFill>
          <a:ln w="7620">
            <a:solidFill>
              <a:srgbClr val="0036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4517136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活动与运营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743200" y="4197096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列表默认设计周过滤；日程 / 列表 / 详情共用活动 ID、时间与状态。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743200" y="4791456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367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确认轮播比例、展示时长与跳转；首页弹窗展示频次；城市选项及最终活动排期。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94360" y="5806440"/>
            <a:ext cx="11000232" cy="457200"/>
          </a:xfrm>
          <a:prstGeom prst="rect">
            <a:avLst/>
          </a:prstGeom>
          <a:solidFill>
            <a:srgbClr val="EAF2F8"/>
          </a:solidFill>
          <a:ln w="7620">
            <a:solidFill>
              <a:srgbClr val="EAF2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9253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交付边界：现有原型用于前端演示；补充图为页面规划示意，接口、数据库和真实核验尚未接入。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0366A"/>
          </a:solidFill>
          <a:ln w="7620">
            <a:solidFill>
              <a:srgbClr val="0036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652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PC 端后台｜留资数据看板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8595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367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现有后台页面图片 · 保留全宽看板、深蓝顶栏与浅灰背景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6492240"/>
            <a:ext cx="11091672" cy="10973"/>
          </a:xfrm>
          <a:prstGeom prst="rect">
            <a:avLst/>
          </a:prstGeom>
          <a:solidFill>
            <a:srgbClr val="DCE5EE"/>
          </a:solidFill>
          <a:ln w="7620">
            <a:solidFill>
              <a:srgbClr val="DC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601968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367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来源：现有 dashboard.html；按本次要求置于最后一页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18520" y="656539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</a:t>
            </a:r>
            <a:endParaRPr lang="en-US" sz="1000" dirty="0"/>
          </a:p>
        </p:txBody>
      </p:sp>
      <p:pic>
        <p:nvPicPr>
          <p:cNvPr id="8" name="Image 0" descr="/workspace/hengjie-presentation/screens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6049" y="1234440"/>
            <a:ext cx="6623302" cy="51206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686800" y="1371600"/>
            <a:ext cx="10973" cy="4800600"/>
          </a:xfrm>
          <a:prstGeom prst="rect">
            <a:avLst/>
          </a:prstGeom>
          <a:solidFill>
            <a:srgbClr val="DCE5EE"/>
          </a:solidFill>
          <a:ln w="7620">
            <a:solidFill>
              <a:srgbClr val="DCE5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61120" y="1417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展示内容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961120" y="1773936"/>
            <a:ext cx="265176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留资总量、今日新增、已 / 待核销。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渠道分布、核销进度、留资表单。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961120" y="3017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操作入口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961120" y="3374136"/>
            <a:ext cx="265176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姓名、渠道与状态筛选；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426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查询、重置、查看凭证详情。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961120" y="46177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6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当前为静态演示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961120" y="5010912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367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概览数字为展示值。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367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筛选仅作用于 4 条示例记录；未接入真实留资和核销数据。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项目原型交付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恒洁广州设计周｜小程序 H5 原型说明</dc:title>
  <dc:subject>依据《广州设计周专区规划方案1009.xlsx》第二标签页“页面规划”</dc:subject>
  <dc:creator>恒洁项目原型说明</dc:creator>
  <cp:lastModifiedBy>恒洁项目原型说明</cp:lastModifiedBy>
  <cp:revision>1</cp:revision>
  <dcterms:created xsi:type="dcterms:W3CDTF">2026-10-16T15:47:16Z</dcterms:created>
  <dcterms:modified xsi:type="dcterms:W3CDTF">2026-10-16T15:47:16Z</dcterms:modified>
</cp:coreProperties>
</file>