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基于1018修改PDF，更新为当前H5实截图。图文详情页为结构示意，非已上线功能。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按1018修改PDF的18页结构整理；PC端页面放置最后一页。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替换旧首页截图；增加真实轮播入口截图，满足PDF第3页意见。</a:t>
            </a:r>
          </a:p>
          <a:p>
            <a:r>
              <a:t>广州设计周主题主视觉与展期。</a:t>
            </a:r>
          </a:p>
          <a:p>
            <a:r>
              <a:t>底部突出“报名通道”，右上角保留关闭按钮。</a:t>
            </a:r>
          </a:p>
          <a:p>
            <a:r>
              <a:t>进入首页展示弹窗；点击“报名通道”进入专区。</a:t>
            </a:r>
          </a:p>
          <a:p>
            <a:r>
              <a:t>关闭后回到首页，仍可点击轮播图进入。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H5实截图。对应PDF封面、主页和第17页底部凭证入口意见。</a:t>
            </a:r>
          </a:p>
          <a:p>
            <a:r>
              <a:t>顶部主题轮播与展期：12.04—12.08。</a:t>
            </a:r>
          </a:p>
          <a:p>
            <a:r>
              <a:t>现场扫码和 VIP 邀约在同一首屏完整展示。</a:t>
            </a:r>
          </a:p>
          <a:p>
            <a:r>
              <a:t>下方保留内容导航和活动日程。</a:t>
            </a:r>
          </a:p>
          <a:p>
            <a:r>
              <a:t>点击报名卡片打开对应表单。</a:t>
            </a:r>
          </a:p>
          <a:p>
            <a:r>
              <a:t>“我的凭证”固定在页面底部，滚动时持续可见。</a:t>
            </a:r>
          </a:p>
          <a:p>
            <a:r>
              <a:t>内容导航与日程沿用现有入口。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当前H5三张轮播支持触屏和键盘切换。后台物料上传能力不在当前静态H5中。</a:t>
            </a:r>
          </a:p>
          <a:p>
            <a:r>
              <a:t>品牌标识、主题文案、展期或场地信息。</a:t>
            </a:r>
          </a:p>
          <a:p>
            <a:r>
              <a:t>多张主题轮播与底部切换指示。</a:t>
            </a:r>
          </a:p>
          <a:p>
            <a:r>
              <a:t>支持左右滑动，也可点击指示切换。</a:t>
            </a:r>
          </a:p>
          <a:p>
            <a:r>
              <a:t>支持播放 / 暂停；返回专区继续浏览。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当前为前端演示，不代表真实留资接口已接入。</a:t>
            </a:r>
          </a:p>
          <a:p>
            <a:r>
              <a:t>姓名、联系电话、公司 / 工作室、所在城市、设计类型。</a:t>
            </a:r>
          </a:p>
          <a:p>
            <a:r>
              <a:t>城市使用下拉选择；设计类型包含家装设计、工装设计、其他。</a:t>
            </a:r>
          </a:p>
          <a:p>
            <a:r>
              <a:t>点击现场扫码入口打开表单，校验必填项和联系电话。</a:t>
            </a:r>
          </a:p>
          <a:p>
            <a:r>
              <a:t>选择下拉项后回填；提交后进入登记成功状态。</a:t>
            </a:r>
          </a:p>
          <a:p>
            <a:r>
              <a:t>关闭返回原页面。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二维码为原型演示；不支持真实核销。已按修改PDF去除多余编码展示。</a:t>
            </a:r>
          </a:p>
          <a:p>
            <a:r>
              <a:t>“登记成功”提示、现场扫码渠道标签与二维码。</a:t>
            </a:r>
          </a:p>
          <a:p>
            <a:r>
              <a:t>保留“完成”按钮。</a:t>
            </a:r>
          </a:p>
          <a:p>
            <a:r>
              <a:t>点击“完成”返回专区。</a:t>
            </a:r>
          </a:p>
          <a:p>
            <a:r>
              <a:t>再次点击底部“我的凭证”，可查看保存的报名状态和二维码。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当前支持?channel=vip直接打开VIP表单；正式分享卡片和邀约标识需小程序接入。</a:t>
            </a:r>
          </a:p>
          <a:p>
            <a:r>
              <a:t>姓名、联系电话、公司 / 工作室、所在城市、设计类型。</a:t>
            </a:r>
          </a:p>
          <a:p>
            <a:r>
              <a:t>字段与现场报名一致，渠道区分为 VIP 邀约。</a:t>
            </a:r>
          </a:p>
          <a:p>
            <a:r>
              <a:t>定向分享入口可直达 VIP 表单。</a:t>
            </a:r>
          </a:p>
          <a:p>
            <a:r>
              <a:t>选择下拉项 → 确认回填 → 校验提交 → 生成 VIP 凭证。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原型二维码为静态示例；真实核验由后续接口实现。</a:t>
            </a:r>
          </a:p>
          <a:p>
            <a:r>
              <a:t>登记成功提示、VIP 标签、二维码及提示语。</a:t>
            </a:r>
          </a:p>
          <a:p>
            <a:r>
              <a:t>成功后展示凭证，点击“完成”返回专区。</a:t>
            </a:r>
          </a:p>
          <a:p>
            <a:r>
              <a:t>“我的凭证”可再次打开，并保留 VIP 渠道。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当前本机浏览器保存报名状态；不代表跨设备身份查询已接入。</a:t>
            </a:r>
          </a:p>
          <a:p>
            <a:r>
              <a:t>未报名：提示暂未获取凭证，提供“暂不报名 / 去报名”。</a:t>
            </a:r>
          </a:p>
          <a:p>
            <a:r>
              <a:t>已报名：展示所属渠道的凭证和二维码。</a:t>
            </a:r>
          </a:p>
          <a:p>
            <a:r>
              <a:t>点击固定在底部的“我的凭证”进入。</a:t>
            </a:r>
          </a:p>
          <a:p>
            <a:r>
              <a:t>未报名可去报名，已报名直接展示二维码。</a:t>
            </a:r>
          </a:p>
          <a:p>
            <a:r>
              <a:t>点击“完成”返回原页面。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对应PDF第11页。当前H5入口仍为占位。图文编辑器、长图、公众号属于内容呈现方式，并非三个已实现的可编辑业务模块；最终由后台能力确定。</a:t>
            </a:r>
          </a:p>
          <a:p>
            <a:r>
              <a:t>展馆主题、实景或导览图、展馆介绍正文。</a:t>
            </a:r>
          </a:p>
          <a:p>
            <a:r>
              <a:t>展馆位置与参观路线。</a:t>
            </a:r>
          </a:p>
          <a:p>
            <a:r>
              <a:t>主页“展馆介绍” → 图文详情。</a:t>
            </a:r>
          </a:p>
          <a:p>
            <a:r>
              <a:t>图文编辑器、整张长图或公众号链接按项目能力配置。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PDF明确“这个页面待定”；保留当前样式。现有搜索、真实筛选和活动详情未接入，不将其描述为已实现。</a:t>
            </a:r>
          </a:p>
          <a:p>
            <a:r>
              <a:t>活动题图、名称、日期和状态。</a:t>
            </a:r>
          </a:p>
          <a:p>
            <a:r>
              <a:t>从专区进入设计周活动列表。</a:t>
            </a:r>
          </a:p>
          <a:p>
            <a:r>
              <a:t>主页“品牌活动”或日程 MORE → 列表。</a:t>
            </a:r>
          </a:p>
          <a:p>
            <a:r>
              <a:t>后续按确认方案对接活动详情、搜索与分类。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当前H5未实现详情；灰线与占位图示意排版，不虚构正式活动文案。</a:t>
            </a:r>
          </a:p>
          <a:p>
            <a:r>
              <a:t>活动名称、主题海报、时间、地点与活动图文正文。</a:t>
            </a:r>
          </a:p>
          <a:p>
            <a:r>
              <a:t>从活动列表或日程卡片进入同一活动详情。</a:t>
            </a:r>
          </a:p>
          <a:p>
            <a:r>
              <a:t>可配置跳转公众号文章；返回原列表或日程位置。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当前H5仍为内容占位。正式服务内容与链接由品牌提供。</a:t>
            </a:r>
          </a:p>
          <a:p>
            <a:r>
              <a:t>服务政策图文说明。</a:t>
            </a:r>
          </a:p>
          <a:p>
            <a:r>
              <a:t>售后保障体系介绍。</a:t>
            </a:r>
          </a:p>
          <a:p>
            <a:r>
              <a:t>点击“恒洁服务”进入详情，纵向浏览后返回专区。</a:t>
            </a:r>
          </a:p>
          <a:p>
            <a:r>
              <a:t>图文编辑器或公众号链接按项目能力配置。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不预设折扣金额、库存或领取资格；正式内容与链接待配置。</a:t>
            </a:r>
          </a:p>
          <a:p>
            <a:r>
              <a:t>权益总览、专属礼品展示。</a:t>
            </a:r>
          </a:p>
          <a:p>
            <a:r>
              <a:t>折扣 / 优惠信息、权益使用说明。</a:t>
            </a:r>
          </a:p>
          <a:p>
            <a:r>
              <a:t>点击“专属权益”进入图文页。</a:t>
            </a:r>
          </a:p>
          <a:p>
            <a:r>
              <a:t>图文编辑器或公众号链接按项目能力配置。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按修改PDF第16页采用复用产品页方向；当前静态H5尚未接入小程序路由。</a:t>
            </a:r>
          </a:p>
          <a:p>
            <a:r>
              <a:t>展示部分明星产品。</a:t>
            </a:r>
          </a:p>
          <a:p>
            <a:r>
              <a:t>产品图片、名称与简要介绍。</a:t>
            </a:r>
          </a:p>
          <a:p>
            <a:r>
              <a:t>点击“明星产品”，复用小程序“产品”页。</a:t>
            </a:r>
          </a:p>
          <a:p>
            <a:r>
              <a:t>产品详情沿用既有产品模块。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依据：《恒洁广州设计专区原型示意结构（1018改）》PDF。</a:t>
            </a:r>
          </a:p>
          <a:p>
            <a:r>
              <a:t>保留当前活动内容，展期改为12.04—12.08。日程卡片详情仍为占位；固定凭证入口已实现。</a:t>
            </a:r>
          </a:p>
          <a:p>
            <a:r>
              <a:t>活动题图、主题、日期和活动类别。</a:t>
            </a:r>
          </a:p>
          <a:p>
            <a:r>
              <a:t>与“品牌活动”沿用同一批内容。</a:t>
            </a:r>
          </a:p>
          <a:p>
            <a:r>
              <a:t>MORE 进入活动列表；日程卡片按对应活动对接详情。</a:t>
            </a:r>
          </a:p>
          <a:p>
            <a:r>
              <a:t>底部“我的凭证”保持可见，可随时查看二维码。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最后一页为现有PC后台截图。概览和表格为静态示例；本次只更新名称与展期，未补齐实际后台数据和操作功能。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84848" cy="6858000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84848" y="0"/>
            <a:ext cx="5407151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500" b="1">
                <a:solidFill>
                  <a:srgbClr val="FFFFFF"/>
                </a:solidFill>
                <a:latin typeface="Noto Sans CJK SC"/>
              </a:defRPr>
            </a:pPr>
            <a:r>
              <a:t>恒洁 HEGII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3600" b="1">
                <a:solidFill>
                  <a:srgbClr val="FFFFFF"/>
                </a:solidFill>
                <a:latin typeface="Noto Sans CJK SC"/>
              </a:defRPr>
            </a:pPr>
            <a:r>
              <a:t>广州设计周专区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3600" b="1">
                <a:solidFill>
                  <a:srgbClr val="FFFFFF"/>
                </a:solidFill>
                <a:latin typeface="Noto Sans CJK SC"/>
              </a:defRPr>
            </a:pPr>
            <a:r>
              <a:t>原型说明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822191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700" b="0">
                <a:solidFill>
                  <a:srgbClr val="DCEAF5"/>
                </a:solidFill>
                <a:latin typeface="Noto Sans CJK SC"/>
              </a:defRPr>
            </a:pPr>
            <a:r>
              <a:t>页面展示内容 · 跳转路径 · 核心字段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517136"/>
            <a:ext cx="5349240" cy="10972"/>
          </a:xfrm>
          <a:prstGeom prst="rect">
            <a:avLst/>
          </a:prstGeom>
          <a:solidFill>
            <a:srgbClr val="5B7D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818888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000" b="0">
                <a:solidFill>
                  <a:srgbClr val="FFFFFF"/>
                </a:solidFill>
                <a:latin typeface="Noto Sans CJK SC"/>
              </a:defRPr>
            </a:pPr>
            <a:r>
              <a:t>2026.12.04—12.08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035040"/>
            <a:ext cx="5349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200" b="0">
                <a:solidFill>
                  <a:srgbClr val="C7DAEA"/>
                </a:solidFill>
                <a:latin typeface="Noto Sans CJK SC"/>
              </a:defRPr>
            </a:pPr>
            <a:r>
              <a:t>2026.10.20 更新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37476" y="1092708"/>
            <a:ext cx="2038678" cy="4379976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1106424"/>
            <a:ext cx="2011246" cy="43525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5472" y="5577840"/>
            <a:ext cx="210268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首页 · 设计周入口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4059" y="1860803"/>
            <a:ext cx="2038678" cy="4379976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76" y="1874519"/>
            <a:ext cx="2011246" cy="43525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92055" y="6345936"/>
            <a:ext cx="210268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专区 · 双报名入口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页面内容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07592"/>
          <a:ext cx="11000232" cy="4813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6611112"/>
              </a:tblGrid>
              <a:tr h="34381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模块 / 页面</a:t>
                      </a:r>
                    </a:p>
                  </a:txBody>
                  <a:tcPr marL="128016" marR="91440" marT="50292" marB="22860" anchor="ctr">
                    <a:solidFill>
                      <a:srgbClr val="0036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本说明页码</a:t>
                      </a:r>
                    </a:p>
                  </a:txBody>
                  <a:tcPr marL="128016" marR="91440" marT="50292" marB="22860" anchor="ctr">
                    <a:solidFill>
                      <a:srgbClr val="0036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主要访问关系</a:t>
                      </a:r>
                    </a:p>
                  </a:txBody>
                  <a:tcPr marL="128016" marR="91440" marT="50292" marB="22860" anchor="ctr">
                    <a:solidFill>
                      <a:srgbClr val="00366A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首页主题弹窗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03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报名通道 / 首页轮播 → 专区主页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专区主页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04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轮播 → 双报名入口 → 内容导航 → 日程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顶部轮播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05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左右滑动 / 手动切换主题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现场扫码报名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06–07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填写表单 → 登记成功 → 凭证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VIP 邀约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08–09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定向邀约 → 表单 → VIP 凭证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我的凭证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10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未报名提示 / 已报名二维码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展馆介绍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主页导航 → 图文详情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品牌活动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12–13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活动列表 → 活动详情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恒洁服务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14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主页导航 → 服务政策 / 售后保障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专属权益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15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主页导航 → 礼品 / 优惠 / 使用说明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明星产品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16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主页导航 → 小程序产品页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活动日程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17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日程卡片 → 活动详情</a:t>
                      </a:r>
                    </a:p>
                  </a:txBody>
                  <a:tcPr marL="128016" marR="91440" marT="50292" marB="22860" anchor="ctr">
                    <a:solidFill>
                      <a:srgbClr val="F4F7FA"/>
                    </a:solidFill>
                  </a:tcPr>
                </a:tc>
              </a:tr>
              <a:tr h="34381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PC 端后台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42638"/>
                          </a:solidFill>
                          <a:latin typeface="Noto Sans CJK SC"/>
                        </a:defRPr>
                      </a:pPr>
                      <a:r>
                        <a:t>留资统计 / 渠道分布 / 核销情况</a:t>
                      </a:r>
                    </a:p>
                  </a:txBody>
                  <a:tcPr marL="128016" marR="91440" marT="50292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首页入口｜设计周主题弹窗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" y="1357884"/>
            <a:ext cx="2211916" cy="4754880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2184484" cy="4727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217920"/>
            <a:ext cx="22759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首页弹窗实截图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2091" y="1357884"/>
            <a:ext cx="2211916" cy="4754880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home-carous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1371600"/>
            <a:ext cx="2184484" cy="4727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90088" y="6217920"/>
            <a:ext cx="22759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关闭后：首页轮播入口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490472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38528"/>
            <a:ext cx="5806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广州设计周主题主视觉与展期。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底部突出“报名通道”，右上角保留关闭按钮。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401568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849624"/>
            <a:ext cx="58064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进入首页展示弹窗；点击“报名通道”进入专区。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关闭后回到首页，仍可点击轮播图进入。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5797296"/>
            <a:ext cx="580644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728" y="5897880"/>
            <a:ext cx="55869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首页 → 设计周弹窗 / 轮播图 → 专区主页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专区主页｜报名入口与内容导航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" y="1357884"/>
            <a:ext cx="2211916" cy="4754880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2184484" cy="4727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217920"/>
            <a:ext cx="22759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首屏：双报名入口完整展示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2091" y="1357884"/>
            <a:ext cx="2211916" cy="4754880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gu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1371600"/>
            <a:ext cx="2184484" cy="4727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90088" y="6217920"/>
            <a:ext cx="22759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下屏：指南 / 日程 / 固定凭证入口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490472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38528"/>
            <a:ext cx="5806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顶部主题轮播与展期：12.04—12.08。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现场扫码和 VIP 邀约在同一首屏完整展示。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下方保留内容导航和活动日程。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401568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849624"/>
            <a:ext cx="58064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点击报名卡片打开对应表单。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“我的凭证”固定在页面底部，滚动时持续可见。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内容导航与日程沿用现有入口。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5797296"/>
            <a:ext cx="580644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728" y="5897880"/>
            <a:ext cx="55869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主题轮播 → 双报名入口 → 内容导航 → 活动日程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顶部轮播｜主题内容切换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" y="1339596"/>
            <a:ext cx="2237268" cy="4809744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carous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2209836" cy="4782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" y="6254496"/>
            <a:ext cx="2301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轮播第二张实截图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4904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38528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品牌标识、主题文案、展期或场地信息。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多张主题轮播与底部切换指示。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4015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849624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支持左右滑动，也可点击指示切换。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支持播放 / 暂停；返回专区继续浏览。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5797296"/>
            <a:ext cx="777240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5897880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专区主页 → 左右滑动 / 点击切换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现场扫码｜报名表单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" y="1339596"/>
            <a:ext cx="2237268" cy="4809744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liv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2209836" cy="4782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" y="6254496"/>
            <a:ext cx="2301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现场扫码报名实截图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4904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38528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姓名、联系电话、公司 / 工作室、所在城市、设计类型。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城市使用下拉选择；设计类型包含家装设计、工装设计、其他。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4015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849624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点击现场扫码入口打开表单，校验必填项和联系电话。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选择下拉项后回填；提交后进入登记成功状态。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关闭返回原页面。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5797296"/>
            <a:ext cx="777240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5897880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现场扫码 → 填写 / 选择 → 校验 → 提交登记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现场扫码｜登记成功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" y="1339596"/>
            <a:ext cx="2237268" cy="4809744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live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2209836" cy="4782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" y="6254496"/>
            <a:ext cx="2301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现场扫码成功状态实截图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4904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38528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“登记成功”提示、现场扫码渠道标签与二维码。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保留“完成”按钮。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4015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849624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点击“完成”返回专区。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再次点击底部“我的凭证”，可查看保存的报名状态和二维码。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5797296"/>
            <a:ext cx="777240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5897880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提交登记 → 登记成功 → 完成 → 我的凭证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VIP 邀约｜表单与下拉选择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" y="1339596"/>
            <a:ext cx="2237268" cy="4809744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vip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2209836" cy="4782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" y="6254496"/>
            <a:ext cx="2301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VIP 邀约表单实截图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4904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38528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姓名、联系电话、公司 / 工作室、所在城市、设计类型。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字段与现场报名一致，渠道区分为 VIP 邀约。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4015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849624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定向分享入口可直达 VIP 表单。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选择下拉项 → 确认回填 → 校验提交 → 生成 VIP 凭证。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5797296"/>
            <a:ext cx="777240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5897880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定向邀请 → VIP 表单 → 提交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VIP 邀约｜专属入场凭证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" y="1339596"/>
            <a:ext cx="2237268" cy="4809744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vip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2209836" cy="4782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" y="6254496"/>
            <a:ext cx="2301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VIP 成功状态实截图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4904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38528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登记成功提示、VIP 标签、二维码及提示语。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4015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849624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成功后展示凭证，点击“完成”返回专区。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“我的凭证”可再次打开，并保留 VIP 渠道。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5797296"/>
            <a:ext cx="777240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5897880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VIP 报名 → 专属凭证 → 我的凭证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我的凭证｜未报名与已报名状态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" y="1357884"/>
            <a:ext cx="2211916" cy="4754880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pass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2184484" cy="4727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217920"/>
            <a:ext cx="22759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未报名状态实截图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2091" y="1357884"/>
            <a:ext cx="2211916" cy="4754880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my-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1371600"/>
            <a:ext cx="2184484" cy="4727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90088" y="6217920"/>
            <a:ext cx="22759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已报名状态实截图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490472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38528"/>
            <a:ext cx="5806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未报名：提示暂未获取凭证，提供“暂不报名 / 去报名”。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已报名：展示所属渠道的凭证和二维码。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401568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849624"/>
            <a:ext cx="58064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点击固定在底部的“我的凭证”进入。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未报名可去报名，已报名直接展示二维码。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点击“完成”返回原页面。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5797296"/>
            <a:ext cx="580644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728" y="5897880"/>
            <a:ext cx="55869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底部我的凭证 → 未报名提示 / 已报名二维码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展馆介绍｜图文详情页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536778"/>
                </a:solidFill>
                <a:latin typeface="Noto Sans CJK SC"/>
              </a:defRPr>
            </a:pPr>
            <a:r>
              <a:t>图文页示意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" y="1339596"/>
            <a:ext cx="2237268" cy="4809744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exhib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2209836" cy="4782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8" y="6254496"/>
            <a:ext cx="2301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图文页示意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4904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展馆主题、实景或导览图、展馆介绍正文。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展馆位置与参观路线。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4015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849624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主页“展馆介绍” → 图文详情。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图文编辑器、整张长图或公众号链接按项目能力配置。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5797296"/>
            <a:ext cx="777240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5897880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专区 → 展馆介绍 → 图文阅读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品牌活动｜设计周活动列表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536778"/>
                </a:solidFill>
                <a:latin typeface="Noto Sans CJK SC"/>
              </a:defRPr>
            </a:pPr>
            <a:r>
              <a:t>现有列表样式，方案待定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" y="1339596"/>
            <a:ext cx="2237268" cy="4809744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activ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2209836" cy="4782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8" y="6254496"/>
            <a:ext cx="2301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活动列表实截图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4904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活动题图、名称、日期和状态。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从专区进入设计周活动列表。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4015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849624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主页“品牌活动”或日程 MORE → 列表。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后续按确认方案对接活动详情、搜索与分类。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5797296"/>
            <a:ext cx="777240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5897880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专区 / MORE → 品牌活动列表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品牌活动｜活动详情页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536778"/>
                </a:solidFill>
                <a:latin typeface="Noto Sans CJK SC"/>
              </a:defRPr>
            </a:pPr>
            <a:r>
              <a:t>图文页示意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" y="1339596"/>
            <a:ext cx="2237268" cy="4809744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2209836" cy="4782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8" y="6254496"/>
            <a:ext cx="2301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活动图文页示意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4904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活动名称、主题海报、时间、地点与活动图文正文。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4015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849624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从活动列表或日程卡片进入同一活动详情。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可配置跳转公众号文章；返回原列表或日程位置。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5797296"/>
            <a:ext cx="777240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5897880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活动列表 / 日程 → 活动详情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恒洁服务｜服务政策与售后保障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536778"/>
                </a:solidFill>
                <a:latin typeface="Noto Sans CJK SC"/>
              </a:defRPr>
            </a:pPr>
            <a:r>
              <a:t>图文页示意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" y="1339596"/>
            <a:ext cx="2237268" cy="4809744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2209836" cy="4782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8" y="6254496"/>
            <a:ext cx="2301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服务图文页示意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4904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服务政策图文说明。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售后保障体系介绍。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4015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849624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点击“恒洁服务”进入详情，纵向浏览后返回专区。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图文编辑器或公众号链接按项目能力配置。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5797296"/>
            <a:ext cx="777240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5897880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专区 → 恒洁服务 → 图文阅读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专属权益｜礼品、优惠与使用说明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536778"/>
                </a:solidFill>
                <a:latin typeface="Noto Sans CJK SC"/>
              </a:defRPr>
            </a:pPr>
            <a:r>
              <a:t>图文页示意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" y="1339596"/>
            <a:ext cx="2237268" cy="4809744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bene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2209836" cy="4782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8" y="6254496"/>
            <a:ext cx="2301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权益图文页示意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4904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权益总览、专属礼品展示。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折扣 / 优惠信息、权益使用说明。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4015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849624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点击“专属权益”进入图文页。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图文编辑器或公众号链接按项目能力配置。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5797296"/>
            <a:ext cx="777240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5897880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专区 → 专属权益 → 权益内容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明星产品｜产品展示与跳转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536778"/>
                </a:solidFill>
                <a:latin typeface="Noto Sans CJK SC"/>
              </a:defRPr>
            </a:pPr>
            <a:r>
              <a:t>产品页示意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" y="1339596"/>
            <a:ext cx="2237268" cy="4809744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2209836" cy="4782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8" y="6254496"/>
            <a:ext cx="2301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产品列表结构示意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4904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展示部分明星产品。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产品图片、名称与简要介绍。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4015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849624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点击“明星产品”，复用小程序“产品”页。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产品详情沿用既有产品模块。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5797296"/>
            <a:ext cx="777240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5897880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专区 → 小程序产品页 → 产品详情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活动日程｜按日期呈现活动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" y="1339596"/>
            <a:ext cx="2237268" cy="4809744"/>
          </a:xfrm>
          <a:prstGeom prst="rect">
            <a:avLst/>
          </a:prstGeom>
          <a:solidFill>
            <a:srgbClr val="FFFFFF"/>
          </a:solidFill>
          <a:ln w="7620">
            <a:solidFill>
              <a:srgbClr val="DFE7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2209836" cy="4782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" y="6254496"/>
            <a:ext cx="2301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536778"/>
                </a:solidFill>
                <a:latin typeface="Noto Sans CJK SC"/>
              </a:defRPr>
            </a:pPr>
            <a:r>
              <a:t>日程与底部按钮实截图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49047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38528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活动题图、主题、日期和活动类别。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与“品牌活动”沿用同一批内容。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4015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交互说明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849624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MORE 进入活动列表；日程卡片按对应活动对接详情。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800" b="0">
                <a:solidFill>
                  <a:srgbClr val="142638"/>
                </a:solidFill>
                <a:latin typeface="Noto Sans CJK SC"/>
              </a:defRPr>
            </a:pPr>
            <a:r>
              <a:t>底部“我的凭证”保持可见，可随时查看二维码。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5797296"/>
            <a:ext cx="7772400" cy="393192"/>
          </a:xfrm>
          <a:prstGeom prst="rect">
            <a:avLst/>
          </a:prstGeom>
          <a:solidFill>
            <a:srgbClr val="ED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5897880"/>
            <a:ext cx="7552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100" b="0">
                <a:solidFill>
                  <a:srgbClr val="00366A"/>
                </a:solidFill>
                <a:latin typeface="Noto Sans CJK SC"/>
              </a:defRPr>
            </a:pPr>
            <a:r>
              <a:t>活动日程 → 活动列表 / 详情；底部 → 我的凭证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0584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2700" b="1">
                <a:solidFill>
                  <a:srgbClr val="00366A"/>
                </a:solidFill>
                <a:latin typeface="Noto Sans CJK SC"/>
              </a:defRPr>
            </a:pPr>
            <a:r>
              <a:t>PC 端后台｜留资数据看板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611112"/>
            <a:ext cx="9144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800" b="0">
                <a:solidFill>
                  <a:srgbClr val="536778"/>
                </a:solidFill>
                <a:latin typeface="Noto Sans CJK SC"/>
              </a:defRPr>
            </a:pPr>
            <a:r>
              <a:t>恒洁 HEGII  ·  广州设计周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83680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700"/>
              </a:spcAft>
              <a:defRPr sz="1000" b="0">
                <a:solidFill>
                  <a:srgbClr val="00366A"/>
                </a:solidFill>
                <a:latin typeface="Noto Sans CJK SC"/>
              </a:defRPr>
            </a:pPr>
            <a:r>
              <a:t>18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16" y="1234440"/>
            <a:ext cx="6799190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87384" y="1417320"/>
            <a:ext cx="10972" cy="4535424"/>
          </a:xfrm>
          <a:prstGeom prst="rect">
            <a:avLst/>
          </a:prstGeom>
          <a:solidFill>
            <a:srgbClr val="DF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5361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展示内容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975104"/>
            <a:ext cx="2468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600" b="0">
                <a:solidFill>
                  <a:srgbClr val="142638"/>
                </a:solidFill>
                <a:latin typeface="Noto Sans CJK SC"/>
              </a:defRPr>
            </a:pPr>
            <a:r>
              <a:t>留资总量、今日新增、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600" b="0">
                <a:solidFill>
                  <a:srgbClr val="142638"/>
                </a:solidFill>
                <a:latin typeface="Noto Sans CJK SC"/>
              </a:defRPr>
            </a:pPr>
            <a:r>
              <a:t>已 / 待核销。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600" b="0">
                <a:solidFill>
                  <a:srgbClr val="142638"/>
                </a:solidFill>
                <a:latin typeface="Noto Sans CJK SC"/>
              </a:defRPr>
            </a:pPr>
            <a:r>
              <a:t>渠道分布、核销进度、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600" b="0">
                <a:solidFill>
                  <a:srgbClr val="142638"/>
                </a:solidFill>
                <a:latin typeface="Noto Sans CJK SC"/>
              </a:defRPr>
            </a:pPr>
            <a:r>
              <a:t>留资表单。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0233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400" b="1">
                <a:solidFill>
                  <a:srgbClr val="00366A"/>
                </a:solidFill>
                <a:latin typeface="Noto Sans CJK SC"/>
              </a:defRPr>
            </a:pPr>
            <a:r>
              <a:t>操作入口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46227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 sz="1600" b="0">
                <a:solidFill>
                  <a:srgbClr val="142638"/>
                </a:solidFill>
                <a:latin typeface="Noto Sans CJK SC"/>
              </a:defRPr>
            </a:pPr>
            <a:r>
              <a:t>姓名、渠道与状态筛选。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600" b="0">
                <a:solidFill>
                  <a:srgbClr val="142638"/>
                </a:solidFill>
                <a:latin typeface="Noto Sans CJK SC"/>
              </a:defRPr>
            </a:pPr>
            <a:r>
              <a:t>查询、重置、查看凭证。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恒洁广州设计周专区原型说明（1020更新）</dc:title>
  <dc:subject>基于1018修改PDF与最新版H5</dc:subject>
  <dc:creator>恒洁项目原型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